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Sora"/>
      <p:regular r:id="rId19"/>
      <p:bold r:id="rId20"/>
    </p:embeddedFont>
    <p:embeddedFont>
      <p:font typeface="Inter"/>
      <p:regular r:id="rId21"/>
      <p:bold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78327" y="-365760"/>
            <a:ext cx="6035040" cy="6035040"/>
          </a:xfrm>
          <a:prstGeom prst="ellipse">
            <a:avLst/>
          </a:prstGeom>
          <a:solidFill>
            <a:srgbClr val="161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01287" y="457200"/>
            <a:ext cx="4389120" cy="4389120"/>
          </a:xfrm>
          <a:prstGeom prst="ellipse">
            <a:avLst/>
          </a:prstGeom>
          <a:solidFill>
            <a:srgbClr val="1E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137160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4F2FF"/>
                </a:solidFill>
                <a:latin typeface="Sora"/>
              </a:rPr>
              <a:t>Şans</a:t>
            </a:r>
            <a:r>
              <a:rPr sz="5400" b="1">
                <a:solidFill>
                  <a:srgbClr val="FFD876"/>
                </a:solidFill>
                <a:latin typeface="Sora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A9A3D6"/>
                </a:solidFill>
                <a:latin typeface="Inter"/>
              </a:rPr>
              <a:t>Şansını dene, kuponunu üret</a:t>
            </a:r>
          </a:p>
        </p:txBody>
      </p:sp>
      <p:sp>
        <p:nvSpPr>
          <p:cNvPr id="7" name="Oval 6"/>
          <p:cNvSpPr/>
          <p:nvPr/>
        </p:nvSpPr>
        <p:spPr>
          <a:xfrm>
            <a:off x="4705959" y="4727448"/>
            <a:ext cx="512064" cy="512064"/>
          </a:xfrm>
          <a:prstGeom prst="ellipse">
            <a:avLst/>
          </a:prstGeom>
          <a:solidFill>
            <a:srgbClr val="0A0918"/>
          </a:solidFill>
          <a:ln w="27940">
            <a:solidFill>
              <a:srgbClr val="F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5959" y="4778655"/>
            <a:ext cx="512064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F5333B"/>
                </a:solidFill>
                <a:latin typeface="Sora"/>
              </a:rP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5272887" y="4727448"/>
            <a:ext cx="512064" cy="512064"/>
          </a:xfrm>
          <a:prstGeom prst="ellipse">
            <a:avLst/>
          </a:prstGeom>
          <a:solidFill>
            <a:srgbClr val="0A0918"/>
          </a:solidFill>
          <a:ln w="27940">
            <a:solidFill>
              <a:srgbClr val="FFA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2887" y="4778655"/>
            <a:ext cx="512064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FFA62B"/>
                </a:solidFill>
                <a:latin typeface="Sora"/>
              </a:rPr>
              <a:t>23</a:t>
            </a:r>
          </a:p>
        </p:txBody>
      </p:sp>
      <p:sp>
        <p:nvSpPr>
          <p:cNvPr id="11" name="Oval 10"/>
          <p:cNvSpPr/>
          <p:nvPr/>
        </p:nvSpPr>
        <p:spPr>
          <a:xfrm>
            <a:off x="5839815" y="4727448"/>
            <a:ext cx="512064" cy="512064"/>
          </a:xfrm>
          <a:prstGeom prst="ellipse">
            <a:avLst/>
          </a:prstGeom>
          <a:solidFill>
            <a:srgbClr val="0A0918"/>
          </a:solidFill>
          <a:ln w="27940">
            <a:solidFill>
              <a:srgbClr val="FF4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9815" y="4778655"/>
            <a:ext cx="512064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FF49A3"/>
                </a:solidFill>
                <a:latin typeface="Sora"/>
              </a:rPr>
              <a:t>34</a:t>
            </a:r>
          </a:p>
        </p:txBody>
      </p:sp>
      <p:sp>
        <p:nvSpPr>
          <p:cNvPr id="13" name="Oval 12"/>
          <p:cNvSpPr/>
          <p:nvPr/>
        </p:nvSpPr>
        <p:spPr>
          <a:xfrm>
            <a:off x="6406743" y="4727448"/>
            <a:ext cx="512064" cy="512064"/>
          </a:xfrm>
          <a:prstGeom prst="ellipse">
            <a:avLst/>
          </a:prstGeom>
          <a:solidFill>
            <a:srgbClr val="0A0918"/>
          </a:solidFill>
          <a:ln w="27940">
            <a:solidFill>
              <a:srgbClr val="9D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4778655"/>
            <a:ext cx="512064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9D62FF"/>
                </a:solidFill>
                <a:latin typeface="Sora"/>
              </a:rPr>
              <a:t>11</a:t>
            </a:r>
          </a:p>
        </p:txBody>
      </p:sp>
      <p:sp>
        <p:nvSpPr>
          <p:cNvPr id="15" name="Oval 14"/>
          <p:cNvSpPr/>
          <p:nvPr/>
        </p:nvSpPr>
        <p:spPr>
          <a:xfrm>
            <a:off x="6973671" y="4727448"/>
            <a:ext cx="512064" cy="512064"/>
          </a:xfrm>
          <a:prstGeom prst="ellipse">
            <a:avLst/>
          </a:prstGeom>
          <a:solidFill>
            <a:srgbClr val="0A0918"/>
          </a:solidFill>
          <a:ln w="27940">
            <a:solidFill>
              <a:srgbClr val="6C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3671" y="4778655"/>
            <a:ext cx="512064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6C8BFF"/>
                </a:solidFill>
                <a:latin typeface="Sora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C04A"/>
                </a:solidFill>
                <a:latin typeface="Inter"/>
              </a:rPr>
              <a:t>ÜRÜN SUNUMU  ·  com.odit.sanslab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A3D6"/>
                </a:solidFill>
                <a:latin typeface="Inter"/>
              </a:rPr>
              <a:t>Odit Teknoloji ve İletişim Hizmetleri Ticaret A.Ş.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FIRSAT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2FF"/>
                </a:solidFill>
                <a:latin typeface="Inter"/>
              </a:rPr>
              <a:t>Kupon doldurmak yavaş;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2FF"/>
                </a:solidFill>
                <a:latin typeface="Inter"/>
              </a:rPr>
              <a:t>insanlar </a:t>
            </a:r>
            <a:r>
              <a:rPr sz="3400" b="1">
                <a:solidFill>
                  <a:srgbClr val="FFD876"/>
                </a:solidFill>
                <a:latin typeface="Inter"/>
              </a:rPr>
              <a:t>hızlı şanslı seçim</a:t>
            </a:r>
            <a:r>
              <a:rPr sz="3400" b="1">
                <a:solidFill>
                  <a:srgbClr val="F4F2FF"/>
                </a:solidFill>
                <a:latin typeface="Inter"/>
              </a:rPr>
              <a:t> 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383280" cy="237744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089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D876"/>
                </a:solidFill>
                <a:latin typeface="Sora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Tekrarlayan 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Elle sayı seçmek can sıkıcı ve zaman alıcı.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383280" cy="237744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3063240"/>
            <a:ext cx="640080" cy="64008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D876"/>
                </a:solidFill>
                <a:latin typeface="Sor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Karar yorgunluğu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"Hangi sayılar?" sorusu oyunu yavaşlatır.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383280" cy="237744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3063240"/>
            <a:ext cx="640080" cy="64008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D876"/>
                </a:solidFill>
                <a:latin typeface="Sor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Çoklu oyun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43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5 farklı oyunun farklı kuralları akılda tutulamaz.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2FF"/>
                </a:solidFill>
                <a:latin typeface="Inter"/>
              </a:rPr>
              <a:t>Seç, dokun, </a:t>
            </a:r>
            <a:r>
              <a:rPr sz="3400" b="1">
                <a:solidFill>
                  <a:srgbClr val="FFD876"/>
                </a:solidFill>
                <a:latin typeface="Inter"/>
              </a:rPr>
              <a:t>üret</a:t>
            </a:r>
            <a:r>
              <a:rPr sz="3400" b="1">
                <a:solidFill>
                  <a:srgbClr val="F4F2FF"/>
                </a:solidFill>
                <a:latin typeface="Inter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9A3D6"/>
                </a:solidFill>
                <a:latin typeface="Inter"/>
              </a:rPr>
              <a:t>ŞansLab beş Türk şans oyunu için saniyeler içinde rastgele kupon üretir. Tekli ya da 10'lu, üç üretim modu, sayı istatistikleri, TR/EN ve açık/koyu tema.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A9A3D6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A9A3D6"/>
                </a:solidFill>
                <a:latin typeface="Inter"/>
              </a:rPr>
              <a:t>Sade akış: bir oyun seç → kuponun hazır.</a:t>
            </a:r>
          </a:p>
        </p:txBody>
      </p:sp>
      <p:pic>
        <p:nvPicPr>
          <p:cNvPr id="5" name="Picture 4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640080"/>
            <a:ext cx="2577261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OYUNLAR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Beş oyun, tek 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94960" cy="86868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2189988"/>
            <a:ext cx="512064" cy="512064"/>
          </a:xfrm>
          <a:prstGeom prst="ellipse">
            <a:avLst/>
          </a:prstGeom>
          <a:solidFill>
            <a:srgbClr val="F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21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Sayısal 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87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6 sayı (1–90) + 1 Joker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94960" cy="86868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47688" y="2189988"/>
            <a:ext cx="512064" cy="512064"/>
          </a:xfrm>
          <a:prstGeom prst="ellipse">
            <a:avLst/>
          </a:prstGeom>
          <a:solidFill>
            <a:srgbClr val="FFA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121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Süper 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87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6 sayı (1–60)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394960" cy="86868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3332988"/>
            <a:ext cx="512064" cy="512064"/>
          </a:xfrm>
          <a:prstGeom prst="ellipse">
            <a:avLst/>
          </a:prstGeom>
          <a:solidFill>
            <a:srgbClr val="FF4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264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Şans Topu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30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5 sayı (1–34) + 1 (1–14)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54680"/>
            <a:ext cx="5394960" cy="86868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47688" y="3332988"/>
            <a:ext cx="512064" cy="512064"/>
          </a:xfrm>
          <a:prstGeom prst="ellipse">
            <a:avLst/>
          </a:prstGeom>
          <a:solidFill>
            <a:srgbClr val="9D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264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On Numara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30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10 sayı (1–80)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5394960" cy="86868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" y="4475988"/>
            <a:ext cx="512064" cy="512064"/>
          </a:xfrm>
          <a:prstGeom prst="ellipse">
            <a:avLst/>
          </a:prstGeom>
          <a:solidFill>
            <a:srgbClr val="6C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407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2FF"/>
                </a:solidFill>
                <a:latin typeface="Inter"/>
              </a:rPr>
              <a:t>Hızlı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73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1–10 arası seç (1–80)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NASIL ÇALIŞIR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Üç adımda kupon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383280" cy="274320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F4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27432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41A05"/>
                </a:solidFill>
                <a:latin typeface="Sor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F2FF"/>
                </a:solidFill>
                <a:latin typeface="Inter"/>
              </a:rPr>
              <a:t>Oyun seç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5 oyundan birini aç.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77440"/>
            <a:ext cx="3383280" cy="274320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914400" cy="914400"/>
          </a:xfrm>
          <a:prstGeom prst="ellipse">
            <a:avLst/>
          </a:prstGeom>
          <a:solidFill>
            <a:srgbClr val="F4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41A05"/>
                </a:solidFill>
                <a:latin typeface="Sor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F2FF"/>
                </a:solidFill>
                <a:latin typeface="Inter"/>
              </a:rPr>
              <a:t>Mod &amp; adet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3891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4 mod (ŞansFormülü dahil) · tekli ya da 10'lu.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383280" cy="274320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1160" y="2743200"/>
            <a:ext cx="914400" cy="914400"/>
          </a:xfrm>
          <a:prstGeom prst="ellipse">
            <a:avLst/>
          </a:prstGeom>
          <a:solidFill>
            <a:srgbClr val="F4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7432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41A05"/>
                </a:solidFill>
                <a:latin typeface="Sor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4F2FF"/>
                </a:solidFill>
                <a:latin typeface="Inter"/>
              </a:rPr>
              <a:t>Üret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891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Dokun; parlayan toplar anında hazır.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EKRANLAR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Gece Çekilişi tasarımı</a:t>
            </a:r>
          </a:p>
        </p:txBody>
      </p:sp>
      <p:pic>
        <p:nvPicPr>
          <p:cNvPr id="4" name="Picture 3" descr="03_say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194350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9A3D6"/>
                </a:solidFill>
                <a:latin typeface="Inter"/>
              </a:rPr>
              <a:t>Sayısal Loto</a:t>
            </a:r>
          </a:p>
        </p:txBody>
      </p:sp>
      <p:pic>
        <p:nvPicPr>
          <p:cNvPr id="6" name="Picture 5" descr="06_on_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1943508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9A3D6"/>
                </a:solidFill>
                <a:latin typeface="Inter"/>
              </a:rPr>
              <a:t>10 kupon</a:t>
            </a:r>
          </a:p>
        </p:txBody>
      </p:sp>
      <p:pic>
        <p:nvPicPr>
          <p:cNvPr id="8" name="Picture 7" descr="07_hiz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194350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9A3D6"/>
                </a:solidFill>
                <a:latin typeface="Inter"/>
              </a:rPr>
              <a:t>Hızlı On</a:t>
            </a:r>
          </a:p>
        </p:txBody>
      </p:sp>
      <p:pic>
        <p:nvPicPr>
          <p:cNvPr id="10" name="Picture 9" descr="09_prem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828800"/>
            <a:ext cx="1943508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9A3D6"/>
                </a:solidFill>
                <a:latin typeface="Inter"/>
              </a:rPr>
              <a:t>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ÜRETIM MOTORU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Adil rastgelelik, dürüst duruş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881360" cy="86868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60120" y="2377440"/>
            <a:ext cx="329184" cy="32918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21284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Kriptografik rastgelelik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12848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expo-crypto CSPRNG + reddetme örneklemesi (modülo yanlılığı yok).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86868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60120" y="3383280"/>
            <a:ext cx="329184" cy="32918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21868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Tekrarsız, düzgün dağılım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18688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Fisher–Yates; 20.000+ örnekle doğrulandı.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881360" cy="86868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960120" y="4389120"/>
            <a:ext cx="329184" cy="32918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22452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Kazanma vaadi yok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224528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Her çekiliş bağımsız; hiçbir mod olasılığı değiştirmez.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0881360" cy="86868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960120" y="5394960"/>
            <a:ext cx="329184" cy="32918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23036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Şeffaf beyan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230368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A3D6"/>
                </a:solidFill>
                <a:latin typeface="Inter"/>
              </a:rPr>
              <a:t>Operatörle bağ yok; gerçek para/bahis yok; 18+.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DÜRÜST IKI YENILIK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2FF"/>
                </a:solidFill>
                <a:latin typeface="Inter"/>
              </a:rPr>
              <a:t>Şansı değiştirmeden gerçek değer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94960" cy="4023360"/>
          </a:xfrm>
          <a:prstGeom prst="roundRect">
            <a:avLst/>
          </a:prstGeom>
          <a:solidFill>
            <a:srgbClr val="1E1A44"/>
          </a:solidFill>
          <a:ln w="20320"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468880"/>
            <a:ext cx="640080" cy="64008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61288" y="2578608"/>
            <a:ext cx="420624" cy="42062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54203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D876"/>
                </a:solidFill>
                <a:latin typeface="Sora"/>
              </a:rPr>
              <a:t>Az Paylaşılan mod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3D6"/>
                </a:solidFill>
                <a:latin typeface="Inter"/>
              </a:rPr>
              <a:t>Doğum günü (1–31), şanslı sayılar ve desenler gibi popüler seçimlerden kaçınır. Kazanma olasılığın AYNI kalır — ama kazanırsan ikramiyeyi daha az kişiyle paylaşırsın.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94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2FF"/>
                </a:solidFill>
                <a:latin typeface="Inter"/>
              </a:rPr>
              <a:t>Ölçülen: </a:t>
            </a:r>
            <a:r>
              <a:rPr sz="1300" b="1">
                <a:solidFill>
                  <a:srgbClr val="FFD876"/>
                </a:solidFill>
                <a:latin typeface="Inter"/>
              </a:rPr>
              <a:t>doğum günü sayısı 2.05 → 0.01</a:t>
            </a:r>
            <a:r>
              <a:rPr sz="1300" b="1">
                <a:solidFill>
                  <a:srgbClr val="F4F2FF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0749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A3D6"/>
                </a:solidFill>
                <a:latin typeface="Inter"/>
              </a:rPr>
              <a:t>+ </a:t>
            </a:r>
            <a:r>
              <a:rPr sz="1200" b="0">
                <a:solidFill>
                  <a:srgbClr val="FFD876"/>
                </a:solidFill>
                <a:latin typeface="Inter"/>
              </a:rPr>
              <a:t>ŞansFormülü</a:t>
            </a:r>
            <a:r>
              <a:rPr sz="1200" b="0">
                <a:solidFill>
                  <a:srgbClr val="A9A3D6"/>
                </a:solidFill>
                <a:latin typeface="Inter"/>
              </a:rPr>
              <a:t>: 3.496 temiz çekiliş arşiviyle 7 bileşenli bileşik skor (Premium).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212080" cy="402336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2468880"/>
            <a:ext cx="640080" cy="64008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6830568" y="2578608"/>
            <a:ext cx="420624" cy="420624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542032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D876"/>
                </a:solidFill>
                <a:latin typeface="Sora"/>
              </a:rPr>
              <a:t>Sayı istatistikleri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383280"/>
            <a:ext cx="43891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3D6"/>
                </a:solidFill>
                <a:latin typeface="Inter"/>
              </a:rPr>
              <a:t>Geçmiş çekilişlerdeki sayı sıklığı ve "dağılım adil mi?" okuması. Açık uyarıyla: bu veri geçmişe aittir, geleceği tahmin etmez. Şeffaflık ve eğlence için — sahte tahmin yok.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PARA KAZANMA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2FF"/>
                </a:solidFill>
                <a:latin typeface="Inter"/>
              </a:rPr>
              <a:t>Ücretsiz temel · Premium ayrıcalık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12080" cy="4023360"/>
          </a:xfrm>
          <a:prstGeom prst="roundRect">
            <a:avLst/>
          </a:prstGeom>
          <a:solidFill>
            <a:srgbClr val="1E1A44"/>
          </a:solidFill>
          <a:ln w="1524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2FF"/>
                </a:solidFill>
                <a:latin typeface="Inter"/>
              </a:rPr>
              <a:t>Ücretsiz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A3D6"/>
                </a:solidFill>
                <a:latin typeface="Inter"/>
              </a:rPr>
              <a:t>•  Tüm 5 oyun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930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A3D6"/>
                </a:solidFill>
                <a:latin typeface="Inter"/>
              </a:rPr>
              <a:t>•  Tekli &amp; 10'lu kupon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5993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A3D6"/>
                </a:solidFill>
                <a:latin typeface="Inter"/>
              </a:rPr>
              <a:t>•  Rastgele mod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268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A3D6"/>
                </a:solidFill>
                <a:latin typeface="Inter"/>
              </a:rPr>
              <a:t>•  İstatistik paneli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9A3D6"/>
                </a:solidFill>
                <a:latin typeface="Inter"/>
              </a:rPr>
              <a:t>•  Reklam destekli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212080" cy="4023360"/>
          </a:xfrm>
          <a:prstGeom prst="roundRect">
            <a:avLst/>
          </a:prstGeom>
          <a:solidFill>
            <a:srgbClr val="1E1A44"/>
          </a:solidFill>
          <a:ln w="25400"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3719" y="2181759"/>
            <a:ext cx="848563" cy="848563"/>
          </a:xfrm>
          <a:prstGeom prst="ellipse">
            <a:avLst/>
          </a:prstGeom>
          <a:solidFill>
            <a:srgbClr val="161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65392" y="2313432"/>
            <a:ext cx="585216" cy="585216"/>
          </a:xfrm>
          <a:prstGeom prst="ellipse">
            <a:avLst/>
          </a:prstGeom>
          <a:solidFill>
            <a:srgbClr val="F4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94653" y="2328063"/>
            <a:ext cx="204825" cy="160934"/>
          </a:xfrm>
          <a:prstGeom prst="ellipse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6676584" y="2424624"/>
            <a:ext cx="362833" cy="362833"/>
          </a:xfrm>
          <a:prstGeom prst="star5">
            <a:avLst/>
          </a:prstGeom>
          <a:solidFill>
            <a:srgbClr val="FF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D876"/>
                </a:solidFill>
                <a:latin typeface="Inter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08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•  Reklamsız deneyim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758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•  Dengeli · Az Paylaşılan · ŞansFormülü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4281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•  Kupon geçmişi &amp; favoriler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097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•  Sınırsız üretim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3766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•  Aylık / Yıllık / Ömür Boyu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TEKNOLOJI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Modern, tek kod tabanı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" y="248716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35915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Expo SDK 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iOS + Android tek kaynak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4773168" y="248716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35915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React Native 0.81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New Architecture etkin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37744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8522208" y="248716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35915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RevenueCat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81635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Abonelik altyapısı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1024128" y="413308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005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AdMob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622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Banner + interstitial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4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40" y="402336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-Point Star 25"/>
          <p:cNvSpPr/>
          <p:nvPr/>
        </p:nvSpPr>
        <p:spPr>
          <a:xfrm>
            <a:off x="4773168" y="413308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4005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Firebase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4622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Analytics + Crashlytics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749040"/>
            <a:ext cx="3520440" cy="1417320"/>
          </a:xfrm>
          <a:prstGeom prst="roundRect">
            <a:avLst/>
          </a:prstGeom>
          <a:solidFill>
            <a:srgbClr val="1E1A44"/>
          </a:solidFill>
          <a:ln w="12700">
            <a:solidFill>
              <a:srgbClr val="322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023360"/>
            <a:ext cx="502920" cy="502920"/>
          </a:xfrm>
          <a:prstGeom prst="ellipse">
            <a:avLst/>
          </a:prstGeom>
          <a:solidFill>
            <a:srgbClr val="0A0918"/>
          </a:solidFill>
          <a:ln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5-Point Star 30"/>
          <p:cNvSpPr/>
          <p:nvPr/>
        </p:nvSpPr>
        <p:spPr>
          <a:xfrm>
            <a:off x="8522208" y="4133088"/>
            <a:ext cx="292608" cy="292608"/>
          </a:xfrm>
          <a:prstGeom prst="star5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4005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2FF"/>
                </a:solidFill>
                <a:latin typeface="Inter"/>
              </a:rPr>
              <a:t>react-native-svg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4622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A3D6"/>
                </a:solidFill>
                <a:latin typeface="Inter"/>
              </a:rPr>
              <a:t>Toplar + istatistik grafiği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902B"/>
                </a:solidFill>
                <a:latin typeface="Inter"/>
              </a:rPr>
              <a:t>YOL HARITASI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FF"/>
                </a:solidFill>
                <a:latin typeface="Inter"/>
              </a:rPr>
              <a:t>Sonraki adımlar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F4C04A"/>
          </a:solidFill>
          <a:ln w="25400"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D876"/>
                </a:solidFill>
                <a:latin typeface="Inter"/>
              </a:rPr>
              <a:t>Şimdi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76272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Yayın: 5 oyun, 4 mod (ŞansFormülü), istatistik, TR/EN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E1A44"/>
          </a:solidFill>
          <a:ln w="25400"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D876"/>
                </a:solidFill>
                <a:latin typeface="Inter"/>
              </a:rPr>
              <a:t>Sıradaki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56432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Resmi geçmiş veri içe aktarımı · kupon geçmişi &amp; favoriler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1E1A44"/>
          </a:solidFill>
          <a:ln w="25400">
            <a:solidFill>
              <a:srgbClr val="F4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709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D876"/>
                </a:solidFill>
                <a:latin typeface="Inter"/>
              </a:rPr>
              <a:t>Sonra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736592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2FF"/>
                </a:solidFill>
                <a:latin typeface="Inter"/>
              </a:rPr>
              <a:t>Paylaşılabilir kupon · widget · ek diller · erişilebilirlik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8902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647" y="-365760"/>
            <a:ext cx="5486400" cy="5486400"/>
          </a:xfrm>
          <a:prstGeom prst="ellipse">
            <a:avLst/>
          </a:prstGeom>
          <a:solidFill>
            <a:srgbClr val="161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75607" y="457200"/>
            <a:ext cx="3840480" cy="3840480"/>
          </a:xfrm>
          <a:prstGeom prst="ellipse">
            <a:avLst/>
          </a:prstGeom>
          <a:solidFill>
            <a:srgbClr val="1E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0319" y="1581912"/>
            <a:ext cx="1591056" cy="1591056"/>
          </a:xfrm>
          <a:prstGeom prst="ellipse">
            <a:avLst/>
          </a:prstGeom>
          <a:solidFill>
            <a:srgbClr val="161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47207" y="1828800"/>
            <a:ext cx="1097280" cy="1097280"/>
          </a:xfrm>
          <a:prstGeom prst="ellipse">
            <a:avLst/>
          </a:prstGeom>
          <a:solidFill>
            <a:srgbClr val="F4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02071" y="1856232"/>
            <a:ext cx="384048" cy="301752"/>
          </a:xfrm>
          <a:prstGeom prst="ellipse">
            <a:avLst/>
          </a:prstGeom>
          <a:solidFill>
            <a:srgbClr val="FFD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5755691" y="2037284"/>
            <a:ext cx="680313" cy="680313"/>
          </a:xfrm>
          <a:prstGeom prst="star5">
            <a:avLst/>
          </a:prstGeom>
          <a:solidFill>
            <a:srgbClr val="FF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4F2FF"/>
                </a:solidFill>
                <a:latin typeface="Inter"/>
              </a:rPr>
              <a:t>Şansını dene, </a:t>
            </a:r>
            <a:r>
              <a:rPr sz="3400" b="1">
                <a:solidFill>
                  <a:srgbClr val="FFD876"/>
                </a:solidFill>
                <a:latin typeface="Inter"/>
              </a:rPr>
              <a:t>kuponunu üret</a:t>
            </a:r>
            <a:r>
              <a:rPr sz="3400" b="1">
                <a:solidFill>
                  <a:srgbClr val="F4F2FF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A9A3D6"/>
                </a:solidFill>
                <a:latin typeface="Inter"/>
              </a:rPr>
              <a:t>ŞansLab · Gece Çekilişi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D876"/>
                </a:solidFill>
                <a:latin typeface="Inter"/>
              </a:rPr>
              <a:t>support@odit.com.tr  ·  odit.com.tr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A3D6"/>
                </a:solidFill>
                <a:latin typeface="Inter"/>
              </a:rPr>
              <a:t>© 2026 Odit Teknoloji ve İletişim Hizmetleri Ticaret A.Ş.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